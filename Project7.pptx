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97"/>
    <p:restoredTop sz="84407"/>
  </p:normalViewPr>
  <p:slideViewPr>
    <p:cSldViewPr snapToGrid="0" snapToObjects="1">
      <p:cViewPr>
        <p:scale>
          <a:sx n="93" d="100"/>
          <a:sy n="93" d="100"/>
        </p:scale>
        <p:origin x="648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85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propublica/compas-analysis/blob/master/compas-scores-two-years.csv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Navigating Bias in AI with Open-Source Toolkits - AltaML">
            <a:extLst>
              <a:ext uri="{FF2B5EF4-FFF2-40B4-BE49-F238E27FC236}">
                <a16:creationId xmlns:a16="http://schemas.microsoft.com/office/drawing/2014/main" id="{611F3DE3-C47B-AFF6-8CDC-366CB6786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4932"/>
            <a:ext cx="12191999" cy="68281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3504" y="713232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76656" y="795528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PROJECT 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03504" y="1234440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Algorithmic Bias</a:t>
            </a:r>
            <a:endParaRPr lang="en-US" sz="4500" dirty="0"/>
          </a:p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&amp; Mitigation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640080" y="2834640"/>
            <a:ext cx="49377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fairness audit of a recidivism-risk classifier using explicit subgroup confusion matrices, fairness metrics, and mitigation tradeoffs.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4005072"/>
            <a:ext cx="2834640" cy="0"/>
          </a:xfrm>
          <a:prstGeom prst="line">
            <a:avLst/>
          </a:prstGeom>
          <a:noFill/>
          <a:ln w="50800">
            <a:solidFill>
              <a:srgbClr val="49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4224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5E8"/>
                </a:solidFill>
              </a:rPr>
              <a:t>Samarah Hiba  •  COMPAS Dataset  •  July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accuracy can hide unfairness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01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Algorithmic Bias Audit  • 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555480" y="6601968"/>
            <a:ext cx="214884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4709160" cy="4343400"/>
          </a:xfrm>
          <a:prstGeom prst="rect">
            <a:avLst/>
          </a:prstGeom>
          <a:solidFill>
            <a:srgbClr val="172A4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66.6%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9FA"/>
                </a:solidFill>
              </a:rPr>
              <a:t>Baseline accuracy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182112"/>
            <a:ext cx="3291840" cy="0"/>
          </a:xfrm>
          <a:prstGeom prst="line">
            <a:avLst/>
          </a:prstGeom>
          <a:noFill/>
          <a:ln w="63500">
            <a:solidFill>
              <a:srgbClr val="F25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45643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But the model predicts “high risk” for African-American defendants at nearly 2× the Caucasian high-risk rate.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0644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5F5C"/>
                </a:solidFill>
              </a:rPr>
              <a:t>Audit target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06440" y="1783080"/>
            <a:ext cx="73152" cy="822960"/>
          </a:xfrm>
          <a:prstGeom prst="rect">
            <a:avLst/>
          </a:prstGeom>
          <a:solidFill>
            <a:srgbClr val="49D4E8"/>
          </a:solidFill>
          <a:ln w="12700">
            <a:solidFill>
              <a:srgbClr val="49D4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07608" y="1801368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A45"/>
                </a:solidFill>
              </a:rPr>
              <a:t>Build a competent classifier, then ask: who receives errors, and at what rate?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06440" y="2788920"/>
            <a:ext cx="73152" cy="960120"/>
          </a:xfrm>
          <a:prstGeom prst="rect">
            <a:avLst/>
          </a:prstGeom>
          <a:solidFill>
            <a:srgbClr val="7A4DD8"/>
          </a:solidFill>
          <a:ln w="12700">
            <a:solidFill>
              <a:srgbClr val="7A4D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07608" y="2807208"/>
            <a:ext cx="4892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A45"/>
                </a:solidFill>
              </a:rPr>
              <a:t>Compute demographic parity, equal opportunity, equalized odds, calibration, and disparate impact.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06440" y="3977640"/>
            <a:ext cx="73152" cy="868680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07608" y="3995928"/>
            <a:ext cx="4892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A45"/>
                </a:solidFill>
              </a:rPr>
              <a:t>Mitigate with reweighting and group thresholds; defend the ethical tradeoff.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06440" y="533095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A45"/>
                </a:solidFill>
              </a:rPr>
              <a:t>Key claim: fairness is not a single score — it is a defended operating choice.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modeling design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01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Algorithmic Bias Audit  • 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555480" y="6601968"/>
            <a:ext cx="214884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bias_project_assets/base_selection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593056"/>
            <a:ext cx="5715000" cy="32146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5087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5,278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31520" y="1993392"/>
            <a:ext cx="1097280" cy="0"/>
          </a:xfrm>
          <a:prstGeom prst="line">
            <a:avLst/>
          </a:prstGeom>
          <a:noFill/>
          <a:ln w="50800">
            <a:solidFill>
              <a:srgbClr val="F25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09397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filtered cases after cleaning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017520" y="15087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1,584</a:t>
            </a:r>
            <a:endParaRPr lang="en-US" sz="3100" dirty="0"/>
          </a:p>
        </p:txBody>
      </p:sp>
      <p:sp>
        <p:nvSpPr>
          <p:cNvPr id="12" name="Shape 9"/>
          <p:cNvSpPr/>
          <p:nvPr/>
        </p:nvSpPr>
        <p:spPr>
          <a:xfrm>
            <a:off x="3017520" y="1993392"/>
            <a:ext cx="1097280" cy="0"/>
          </a:xfrm>
          <a:prstGeom prst="line">
            <a:avLst/>
          </a:prstGeom>
          <a:noFill/>
          <a:ln w="50800">
            <a:solidFill>
              <a:srgbClr val="49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017520" y="209397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held-out test rows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31520" y="29992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5F5C"/>
                </a:solidFill>
              </a:rPr>
              <a:t>Setup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3310128"/>
            <a:ext cx="438912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two-year recidivism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attribute: race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Groups: African-American vs Caucasian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logistic regression pipeline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Features: age, priors, juvenile counts, charge degree, sex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31520" y="5138928"/>
            <a:ext cx="438912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53766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4DD8"/>
                </a:solidFill>
              </a:rPr>
              <a:t>Important design choice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5650992"/>
            <a:ext cx="4572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Race is excluded from the model input, but the audit still checks whether proxy variables create unequal outcomes.</a:t>
            </a:r>
            <a:endParaRPr lang="en-US" sz="1350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493652D-6DA3-DB38-4DA7-8BDC95BAA5CC}"/>
              </a:ext>
            </a:extLst>
          </p:cNvPr>
          <p:cNvSpPr/>
          <p:nvPr/>
        </p:nvSpPr>
        <p:spPr>
          <a:xfrm>
            <a:off x="6126480" y="5264944"/>
            <a:ext cx="5074920" cy="822960"/>
          </a:xfrm>
          <a:prstGeom prst="roundRect">
            <a:avLst/>
          </a:prstGeom>
          <a:solidFill>
            <a:schemeClr val="accent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pic>
        <p:nvPicPr>
          <p:cNvPr id="20" name="Picture 19" descr="code_setup.png">
            <a:extLst>
              <a:ext uri="{FF2B5EF4-FFF2-40B4-BE49-F238E27FC236}">
                <a16:creationId xmlns:a16="http://schemas.microsoft.com/office/drawing/2014/main" id="{4CF00204-9979-5788-19B4-EF6D43D2A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521" y="5414706"/>
            <a:ext cx="4526280" cy="975491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02A0CA7-640E-A6A9-A61B-AC8E5D0B4B58}"/>
              </a:ext>
            </a:extLst>
          </p:cNvPr>
          <p:cNvSpPr/>
          <p:nvPr/>
        </p:nvSpPr>
        <p:spPr>
          <a:xfrm>
            <a:off x="9479281" y="5320145"/>
            <a:ext cx="1417320" cy="237744"/>
          </a:xfrm>
          <a:prstGeom prst="roundRect">
            <a:avLst/>
          </a:prstGeom>
          <a:solidFill>
            <a:srgbClr val="41C6DB"/>
          </a:solidFill>
          <a:ln>
            <a:solidFill>
              <a:srgbClr val="41C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implementation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7F7A74-9B8A-5125-3779-2B1D0B6A1B22}"/>
              </a:ext>
            </a:extLst>
          </p:cNvPr>
          <p:cNvSpPr txBox="1"/>
          <p:nvPr/>
        </p:nvSpPr>
        <p:spPr>
          <a:xfrm>
            <a:off x="5806440" y="563841"/>
            <a:ext cx="61079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ProPublica COMPAS two-year recidivism dataset:</a:t>
            </a:r>
            <a:br>
              <a:rPr lang="en-US" dirty="0"/>
            </a:br>
            <a:r>
              <a:rPr lang="en-US" dirty="0">
                <a:hlinkClick r:id="rId5"/>
              </a:rPr>
              <a:t>https://github.com/propublica/compas-analysis/blob/master/compas-scores-two-years.csv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result: competent, but not fair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01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Algorithmic Bias Audit  • 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555480" y="6601968"/>
            <a:ext cx="214884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0.666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685800" y="1901952"/>
            <a:ext cx="1097280" cy="0"/>
          </a:xfrm>
          <a:prstGeom prst="line">
            <a:avLst/>
          </a:prstGeom>
          <a:noFill/>
          <a:ln w="50800">
            <a:solidFill>
              <a:srgbClr val="49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0025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Accuracy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0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0.721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2743200" y="1901952"/>
            <a:ext cx="1097280" cy="0"/>
          </a:xfrm>
          <a:prstGeom prst="line">
            <a:avLst/>
          </a:prstGeom>
          <a:noFill/>
          <a:ln w="50800">
            <a:solidFill>
              <a:srgbClr val="7A4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20025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ROC-AUC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0.613</a:t>
            </a:r>
            <a:endParaRPr lang="en-US" sz="3100" dirty="0"/>
          </a:p>
        </p:txBody>
      </p:sp>
      <p:sp>
        <p:nvSpPr>
          <p:cNvPr id="14" name="Shape 12"/>
          <p:cNvSpPr/>
          <p:nvPr/>
        </p:nvSpPr>
        <p:spPr>
          <a:xfrm>
            <a:off x="4800600" y="1901952"/>
            <a:ext cx="1097280" cy="0"/>
          </a:xfrm>
          <a:prstGeom prst="line">
            <a:avLst/>
          </a:prstGeom>
          <a:noFill/>
          <a:ln w="50800">
            <a:solidFill>
              <a:srgbClr val="F25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20025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F1 score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971800"/>
            <a:ext cx="576072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0" descr="/mnt/data/bias_project_assets/base_selection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883093"/>
            <a:ext cx="4846320" cy="2726055"/>
          </a:xfrm>
          <a:prstGeom prst="rect">
            <a:avLst/>
          </a:prstGeom>
        </p:spPr>
      </p:pic>
      <p:sp>
        <p:nvSpPr>
          <p:cNvPr id="54" name="Shape 51"/>
          <p:cNvSpPr/>
          <p:nvPr/>
        </p:nvSpPr>
        <p:spPr>
          <a:xfrm>
            <a:off x="731520" y="5257800"/>
            <a:ext cx="73152" cy="685800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932688" y="5276088"/>
            <a:ext cx="5440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A45"/>
                </a:solidFill>
              </a:rPr>
              <a:t>Even without race as an input, the baseline model creates unequal error rates and unequal high-risk classifications.</a:t>
            </a:r>
            <a:endParaRPr lang="en-US" sz="1500" dirty="0"/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1BEA0D1A-619A-48C7-A232-16848D39C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024481"/>
              </p:ext>
            </p:extLst>
          </p:nvPr>
        </p:nvGraphicFramePr>
        <p:xfrm>
          <a:off x="731520" y="3396997"/>
          <a:ext cx="54864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0D18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Base rate</a:t>
                      </a:r>
                    </a:p>
                  </a:txBody>
                  <a:tcPr>
                    <a:solidFill>
                      <a:srgbClr val="0D18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High-risk rate</a:t>
                      </a:r>
                    </a:p>
                  </a:txBody>
                  <a:tcPr>
                    <a:solidFill>
                      <a:srgbClr val="0D18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TPR</a:t>
                      </a:r>
                    </a:p>
                  </a:txBody>
                  <a:tcPr>
                    <a:solidFill>
                      <a:srgbClr val="0D18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FPR</a:t>
                      </a:r>
                    </a:p>
                  </a:txBody>
                  <a:tcPr>
                    <a:solidFill>
                      <a:srgbClr val="0D18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0D18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A101E"/>
                          </a:solidFill>
                        </a:rPr>
                        <a:t>African-</a:t>
                      </a:r>
                    </a:p>
                    <a:p>
                      <a:pPr algn="ctr"/>
                      <a:r>
                        <a:rPr sz="1000" dirty="0">
                          <a:solidFill>
                            <a:srgbClr val="0A101E"/>
                          </a:solidFill>
                        </a:rPr>
                        <a:t>American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101E"/>
                          </a:solidFill>
                        </a:rPr>
                        <a:t>0.524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101E"/>
                          </a:solidFill>
                        </a:rPr>
                        <a:t>0.489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101E"/>
                          </a:solidFill>
                        </a:rPr>
                        <a:t>0.659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101E"/>
                          </a:solidFill>
                        </a:rPr>
                        <a:t>0.302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101E"/>
                          </a:solidFill>
                        </a:rPr>
                        <a:t>0.706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101E"/>
                          </a:solidFill>
                        </a:rPr>
                        <a:t>Caucasian</a:t>
                      </a:r>
                    </a:p>
                  </a:txBody>
                  <a:tcPr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A101E"/>
                          </a:solidFill>
                        </a:rPr>
                        <a:t>0.391</a:t>
                      </a:r>
                    </a:p>
                  </a:txBody>
                  <a:tcPr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A101E"/>
                          </a:solidFill>
                        </a:rPr>
                        <a:t>0.250</a:t>
                      </a:r>
                    </a:p>
                  </a:txBody>
                  <a:tcPr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101E"/>
                          </a:solidFill>
                        </a:rPr>
                        <a:t>0.369</a:t>
                      </a:r>
                    </a:p>
                  </a:txBody>
                  <a:tcPr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101E"/>
                          </a:solidFill>
                        </a:rPr>
                        <a:t>0.173</a:t>
                      </a:r>
                    </a:p>
                  </a:txBody>
                  <a:tcPr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A101E"/>
                          </a:solidFill>
                        </a:rPr>
                        <a:t>0.579</a:t>
                      </a:r>
                    </a:p>
                  </a:txBody>
                  <a:tcPr>
                    <a:solidFill>
                      <a:srgbClr val="EB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DBF3817F-3221-937C-3627-65A3802BE32E}"/>
              </a:ext>
            </a:extLst>
          </p:cNvPr>
          <p:cNvSpPr/>
          <p:nvPr/>
        </p:nvSpPr>
        <p:spPr>
          <a:xfrm>
            <a:off x="10378440" y="658368"/>
            <a:ext cx="1280160" cy="347472"/>
          </a:xfrm>
          <a:prstGeom prst="roundRect">
            <a:avLst/>
          </a:prstGeom>
          <a:solidFill>
            <a:srgbClr val="F25F5C"/>
          </a:solidFill>
          <a:ln>
            <a:solidFill>
              <a:srgbClr val="F2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BASELINE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Subgroup confusion matrices expose the harm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01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Algorithmic Bias Audit  •  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555480" y="6601968"/>
            <a:ext cx="214884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5236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A45"/>
                </a:solidFill>
              </a:rPr>
              <a:t>What changes by group?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79792" y="1965960"/>
            <a:ext cx="36118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African-American defendants have both more true positives and more false positives. That means the model is more active for one group — not just more accurate or less accurate.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79792" y="3429000"/>
            <a:ext cx="73152" cy="1143000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80960" y="3447288"/>
            <a:ext cx="34747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A45"/>
                </a:solidFill>
              </a:rPr>
              <a:t>False positives matter in criminal justice because “high risk” can influence supervision, detention, or perceived dangerousness.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79792" y="5074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4DD8"/>
                </a:solidFill>
              </a:rPr>
              <a:t>Audit rule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79792" y="5358384"/>
            <a:ext cx="3749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inspect subgroup confusion matrices before trusting an overall accuracy score.</a:t>
            </a:r>
            <a:endParaRPr lang="en-US" sz="15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CED8A72-1ED6-73D0-C4BC-26C375D7D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372847"/>
              </p:ext>
            </p:extLst>
          </p:nvPr>
        </p:nvGraphicFramePr>
        <p:xfrm>
          <a:off x="728663" y="1344168"/>
          <a:ext cx="5728908" cy="2834640"/>
        </p:xfrm>
        <a:graphic>
          <a:graphicData uri="http://schemas.openxmlformats.org/drawingml/2006/table">
            <a:tbl>
              <a:tblPr/>
              <a:tblGrid>
                <a:gridCol w="1432227">
                  <a:extLst>
                    <a:ext uri="{9D8B030D-6E8A-4147-A177-3AD203B41FA5}">
                      <a16:colId xmlns:a16="http://schemas.microsoft.com/office/drawing/2014/main" val="1964049354"/>
                    </a:ext>
                  </a:extLst>
                </a:gridCol>
                <a:gridCol w="1432227">
                  <a:extLst>
                    <a:ext uri="{9D8B030D-6E8A-4147-A177-3AD203B41FA5}">
                      <a16:colId xmlns:a16="http://schemas.microsoft.com/office/drawing/2014/main" val="2980557346"/>
                    </a:ext>
                  </a:extLst>
                </a:gridCol>
                <a:gridCol w="1432227">
                  <a:extLst>
                    <a:ext uri="{9D8B030D-6E8A-4147-A177-3AD203B41FA5}">
                      <a16:colId xmlns:a16="http://schemas.microsoft.com/office/drawing/2014/main" val="855445705"/>
                    </a:ext>
                  </a:extLst>
                </a:gridCol>
                <a:gridCol w="1432227">
                  <a:extLst>
                    <a:ext uri="{9D8B030D-6E8A-4147-A177-3AD203B41FA5}">
                      <a16:colId xmlns:a16="http://schemas.microsoft.com/office/drawing/2014/main" val="680088889"/>
                    </a:ext>
                  </a:extLst>
                </a:gridCol>
              </a:tblGrid>
              <a:tr h="206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Matrix Cell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Meaning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African-American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Caucasian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519756"/>
                  </a:ext>
                </a:extLst>
              </a:tr>
              <a:tr h="515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Actual 0, Pred 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True Negative</a:t>
                      </a:r>
                      <a:r>
                        <a:rPr lang="en-US" sz="1200" dirty="0"/>
                        <a:t> — correctly predicted </a:t>
                      </a:r>
                      <a:r>
                        <a:rPr lang="en-US" sz="1200" i="1" dirty="0"/>
                        <a:t>not high risk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315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691609"/>
                  </a:ext>
                </a:extLst>
              </a:tr>
              <a:tr h="515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highlight>
                            <a:srgbClr val="FFFF00"/>
                          </a:highlight>
                        </a:rPr>
                        <a:t>Actual 0, Pred 1</a:t>
                      </a:r>
                      <a:endParaRPr lang="en-US" sz="120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highlight>
                            <a:srgbClr val="FFFF00"/>
                          </a:highlight>
                        </a:rPr>
                        <a:t>False Positive</a:t>
                      </a:r>
                      <a:r>
                        <a:rPr lang="en-US" sz="1200">
                          <a:highlight>
                            <a:srgbClr val="FFFF00"/>
                          </a:highlight>
                        </a:rPr>
                        <a:t> — incorrectly predicted </a:t>
                      </a:r>
                      <a:r>
                        <a:rPr lang="en-US" sz="1200" i="1">
                          <a:highlight>
                            <a:srgbClr val="FFFF00"/>
                          </a:highlight>
                        </a:rPr>
                        <a:t>high risk</a:t>
                      </a:r>
                      <a:endParaRPr lang="en-US" sz="120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136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67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6846"/>
                  </a:ext>
                </a:extLst>
              </a:tr>
              <a:tr h="515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Actual 1, Pred 0</a:t>
                      </a:r>
                      <a:endParaRPr lang="en-US" sz="120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False Negative</a:t>
                      </a:r>
                      <a:r>
                        <a:rPr lang="en-US" sz="1200"/>
                        <a:t> — missed someone who did recidivate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169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157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56957"/>
                  </a:ext>
                </a:extLst>
              </a:tr>
              <a:tr h="515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highlight>
                            <a:srgbClr val="FFFF00"/>
                          </a:highlight>
                        </a:rPr>
                        <a:t>Actual 1, Pred 1</a:t>
                      </a:r>
                      <a:endParaRPr lang="en-US" sz="120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highlight>
                            <a:srgbClr val="FFFF00"/>
                          </a:highlight>
                        </a:rPr>
                        <a:t>True Positive</a:t>
                      </a:r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 — correctly predicted </a:t>
                      </a:r>
                      <a:r>
                        <a:rPr lang="en-US" sz="1200" i="1" dirty="0">
                          <a:highlight>
                            <a:srgbClr val="FFFF00"/>
                          </a:highlight>
                        </a:rPr>
                        <a:t>high risk</a:t>
                      </a:r>
                      <a:endParaRPr lang="en-US" sz="1200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ighlight>
                            <a:srgbClr val="FFFF00"/>
                          </a:highlight>
                        </a:rPr>
                        <a:t>327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92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39847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4E36013-64E7-AF50-A483-3649B3957496}"/>
              </a:ext>
            </a:extLst>
          </p:cNvPr>
          <p:cNvSpPr txBox="1"/>
          <p:nvPr/>
        </p:nvSpPr>
        <p:spPr>
          <a:xfrm>
            <a:off x="728663" y="4361688"/>
            <a:ext cx="66008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 = did not recidivate / not high risk</a:t>
            </a:r>
            <a:r>
              <a:rPr lang="en-US" dirty="0"/>
              <a:t>, and </a:t>
            </a:r>
            <a:r>
              <a:rPr lang="en-US" b="1" dirty="0"/>
              <a:t>1 = recidivated / high risk</a:t>
            </a:r>
            <a:r>
              <a:rPr lang="en-US" dirty="0"/>
              <a:t>. The key fairness issue is the </a:t>
            </a:r>
            <a:r>
              <a:rPr lang="en-US" b="1" dirty="0"/>
              <a:t>false positive cell: Actual 0, Pred 1</a:t>
            </a:r>
            <a:r>
              <a:rPr lang="en-US" dirty="0"/>
              <a:t>. African-American defendants had </a:t>
            </a:r>
            <a:r>
              <a:rPr lang="en-US" b="1" dirty="0"/>
              <a:t>136 false positives</a:t>
            </a:r>
            <a:r>
              <a:rPr lang="en-US" dirty="0"/>
              <a:t>, while Caucasian defendants had </a:t>
            </a:r>
            <a:r>
              <a:rPr lang="en-US" b="1" dirty="0"/>
              <a:t>67</a:t>
            </a:r>
            <a:r>
              <a:rPr lang="en-US" dirty="0"/>
              <a:t>. This means the model labeled more non-recidivating African-American defendants as high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Fairness metrics: one model, multiple definitions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01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Algorithmic Bias Audit  • 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555480" y="6601968"/>
            <a:ext cx="214884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bias_project_assets/fairness_gap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059" y="1344168"/>
            <a:ext cx="4451069" cy="30460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79942" y="1317878"/>
            <a:ext cx="3748050" cy="3885056"/>
          </a:xfrm>
          <a:prstGeom prst="rect">
            <a:avLst/>
          </a:prstGeom>
          <a:solidFill>
            <a:srgbClr val="172A4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95360" y="16550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9D4E8"/>
                </a:solidFill>
              </a:rPr>
              <a:t>Baseline gaps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21396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0.239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10058400" y="22311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F"/>
                </a:solidFill>
              </a:rPr>
              <a:t>Demographic parity gap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0" y="30540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0.290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10058400" y="31455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F"/>
                </a:solidFill>
              </a:rPr>
              <a:t>Equalized odds gap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95360" y="39684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1.959×</a:t>
            </a:r>
            <a:endParaRPr lang="en-US" sz="3100" dirty="0"/>
          </a:p>
        </p:txBody>
      </p:sp>
      <p:sp>
        <p:nvSpPr>
          <p:cNvPr id="15" name="Text 12"/>
          <p:cNvSpPr/>
          <p:nvPr/>
        </p:nvSpPr>
        <p:spPr>
          <a:xfrm>
            <a:off x="10058400" y="40599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DEBFF"/>
                </a:solidFill>
              </a:rPr>
              <a:t>AA / Caucasian high-risk ratio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72095" y="5710426"/>
            <a:ext cx="3840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should be judged by the fairness metric that matches the deployment harm.</a:t>
            </a:r>
            <a:endParaRPr lang="en-US" sz="1450" dirty="0"/>
          </a:p>
        </p:txBody>
      </p:sp>
      <p:pic>
        <p:nvPicPr>
          <p:cNvPr id="17" name="Picture 16" descr="code_metrics.png">
            <a:extLst>
              <a:ext uri="{FF2B5EF4-FFF2-40B4-BE49-F238E27FC236}">
                <a16:creationId xmlns:a16="http://schemas.microsoft.com/office/drawing/2014/main" id="{459D0381-674A-9639-2B40-27D182C67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60" y="5380662"/>
            <a:ext cx="3977639" cy="857250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EB7A9A2-C181-6255-B826-BC535DF6C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789433"/>
              </p:ext>
            </p:extLst>
          </p:nvPr>
        </p:nvGraphicFramePr>
        <p:xfrm>
          <a:off x="340385" y="1144132"/>
          <a:ext cx="3354860" cy="4114240"/>
        </p:xfrm>
        <a:graphic>
          <a:graphicData uri="http://schemas.openxmlformats.org/drawingml/2006/table">
            <a:tbl>
              <a:tblPr/>
              <a:tblGrid>
                <a:gridCol w="838715">
                  <a:extLst>
                    <a:ext uri="{9D8B030D-6E8A-4147-A177-3AD203B41FA5}">
                      <a16:colId xmlns:a16="http://schemas.microsoft.com/office/drawing/2014/main" val="2099438364"/>
                    </a:ext>
                  </a:extLst>
                </a:gridCol>
                <a:gridCol w="838715">
                  <a:extLst>
                    <a:ext uri="{9D8B030D-6E8A-4147-A177-3AD203B41FA5}">
                      <a16:colId xmlns:a16="http://schemas.microsoft.com/office/drawing/2014/main" val="373089035"/>
                    </a:ext>
                  </a:extLst>
                </a:gridCol>
                <a:gridCol w="838715">
                  <a:extLst>
                    <a:ext uri="{9D8B030D-6E8A-4147-A177-3AD203B41FA5}">
                      <a16:colId xmlns:a16="http://schemas.microsoft.com/office/drawing/2014/main" val="652841126"/>
                    </a:ext>
                  </a:extLst>
                </a:gridCol>
                <a:gridCol w="838715">
                  <a:extLst>
                    <a:ext uri="{9D8B030D-6E8A-4147-A177-3AD203B41FA5}">
                      <a16:colId xmlns:a16="http://schemas.microsoft.com/office/drawing/2014/main" val="3326578645"/>
                    </a:ext>
                  </a:extLst>
                </a:gridCol>
              </a:tblGrid>
              <a:tr h="167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Metric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Simple meaning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/>
                        <a:t>Baseline result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What it means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259526"/>
                  </a:ext>
                </a:extLst>
              </a:tr>
              <a:tr h="709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DP gap</a:t>
                      </a:r>
                      <a:endParaRPr lang="en-US" sz="80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Difference in how often each group is predicted </a:t>
                      </a:r>
                      <a:r>
                        <a:rPr lang="en-US" sz="800" b="1"/>
                        <a:t>high risk</a:t>
                      </a:r>
                      <a:endParaRPr lang="en-US" sz="80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 dirty="0"/>
                        <a:t>0.239</a:t>
                      </a:r>
                      <a:endParaRPr lang="en-US" sz="800" dirty="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African-American defendants are predicted high risk about </a:t>
                      </a:r>
                      <a:r>
                        <a:rPr lang="en-US" sz="800" b="1" dirty="0"/>
                        <a:t>23.9 percentage points more often</a:t>
                      </a:r>
                      <a:r>
                        <a:rPr lang="en-US" sz="800" dirty="0"/>
                        <a:t>.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661661"/>
                  </a:ext>
                </a:extLst>
              </a:tr>
              <a:tr h="817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TPR gap</a:t>
                      </a:r>
                      <a:endParaRPr lang="en-US" sz="80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Difference in recall: among people who actually recidivated, how often did the model correctly catch them?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 dirty="0"/>
                        <a:t>0.290</a:t>
                      </a:r>
                      <a:endParaRPr lang="en-US" sz="800" dirty="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The model catches actual recidivism much more often for African-American defendants.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961655"/>
                  </a:ext>
                </a:extLst>
              </a:tr>
              <a:tr h="817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FPR gap</a:t>
                      </a:r>
                      <a:endParaRPr lang="en-US" sz="80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Difference in false alarms: among people who did </a:t>
                      </a:r>
                      <a:r>
                        <a:rPr lang="en-US" sz="800" b="1"/>
                        <a:t>not</a:t>
                      </a:r>
                      <a:r>
                        <a:rPr lang="en-US" sz="800"/>
                        <a:t> recidivate, how often were they wrongly labeled high risk?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/>
                        <a:t>0.129</a:t>
                      </a:r>
                      <a:endParaRPr lang="en-US" sz="80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African-American defendants have more false positives. This is the main harm concern.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181670"/>
                  </a:ext>
                </a:extLst>
              </a:tr>
              <a:tr h="384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EOdds gap</a:t>
                      </a:r>
                      <a:endParaRPr lang="en-US" sz="80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Equalized-odds gap: combines TPR and FPR unfairness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/>
                        <a:t>0.290</a:t>
                      </a:r>
                      <a:endParaRPr lang="en-US" sz="80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Error rates are not balanced across groups.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02543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F621EFE-3655-3145-CEF4-C0BFA852B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345880"/>
              </p:ext>
            </p:extLst>
          </p:nvPr>
        </p:nvGraphicFramePr>
        <p:xfrm>
          <a:off x="4615660" y="4490847"/>
          <a:ext cx="3169923" cy="1950720"/>
        </p:xfrm>
        <a:graphic>
          <a:graphicData uri="http://schemas.openxmlformats.org/drawingml/2006/table">
            <a:tbl>
              <a:tblPr/>
              <a:tblGrid>
                <a:gridCol w="1056641">
                  <a:extLst>
                    <a:ext uri="{9D8B030D-6E8A-4147-A177-3AD203B41FA5}">
                      <a16:colId xmlns:a16="http://schemas.microsoft.com/office/drawing/2014/main" val="1465599053"/>
                    </a:ext>
                  </a:extLst>
                </a:gridCol>
                <a:gridCol w="1056641">
                  <a:extLst>
                    <a:ext uri="{9D8B030D-6E8A-4147-A177-3AD203B41FA5}">
                      <a16:colId xmlns:a16="http://schemas.microsoft.com/office/drawing/2014/main" val="3065041612"/>
                    </a:ext>
                  </a:extLst>
                </a:gridCol>
                <a:gridCol w="1056641">
                  <a:extLst>
                    <a:ext uri="{9D8B030D-6E8A-4147-A177-3AD203B41FA5}">
                      <a16:colId xmlns:a16="http://schemas.microsoft.com/office/drawing/2014/main" val="937686471"/>
                    </a:ext>
                  </a:extLst>
                </a:gridCol>
              </a:tblGrid>
              <a:tr h="151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Method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What it does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Result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908420"/>
                  </a:ext>
                </a:extLst>
              </a:tr>
              <a:tr h="23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Baseline LR</a:t>
                      </a:r>
                      <a:endParaRPr lang="en-US" sz="80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Original logistic regression model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Has large fairness gaps.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568163"/>
                  </a:ext>
                </a:extLst>
              </a:tr>
              <a:tr h="411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Reweighted LR</a:t>
                      </a:r>
                      <a:endParaRPr lang="en-US" sz="80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Gives different training examples more/less weight to balance group-label patterns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Helps some things, but does </a:t>
                      </a:r>
                      <a:r>
                        <a:rPr lang="en-US" sz="800" b="1" dirty="0"/>
                        <a:t>not</a:t>
                      </a:r>
                      <a:r>
                        <a:rPr lang="en-US" sz="800" dirty="0"/>
                        <a:t> really fix equalized odds.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257190"/>
                  </a:ext>
                </a:extLst>
              </a:tr>
              <a:tr h="324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Group thresholds</a:t>
                      </a:r>
                      <a:endParaRPr lang="en-US" sz="80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Uses different decision thresholds by group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Reduces the fairness gaps the most. Best technical fairness improvement.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3620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5F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Mitigation 1: reweighting the training data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01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Algorithmic Bias Audit  • 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555480" y="6601968"/>
            <a:ext cx="214884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4" y="1140713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0000"/>
                </a:solidFill>
              </a:rPr>
              <a:t>Training-time mitigation.</a:t>
            </a:r>
          </a:p>
        </p:txBody>
      </p:sp>
      <p:sp>
        <p:nvSpPr>
          <p:cNvPr id="8" name="Text 6"/>
          <p:cNvSpPr/>
          <p:nvPr/>
        </p:nvSpPr>
        <p:spPr>
          <a:xfrm>
            <a:off x="749808" y="1496758"/>
            <a:ext cx="48463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Reweighting gives more influence to underrepresented group-label cells during training. It is attractive because the final model still uses one shared decision rule.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6355080" y="1280160"/>
            <a:ext cx="5166360" cy="4389120"/>
          </a:xfrm>
          <a:prstGeom prst="rect">
            <a:avLst/>
          </a:prstGeom>
          <a:solidFill>
            <a:srgbClr val="F3F6FB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20840" y="16459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A45"/>
                </a:solidFill>
              </a:rPr>
              <a:t>Interpretation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6720840" y="2286000"/>
            <a:ext cx="73152" cy="731520"/>
          </a:xfrm>
          <a:prstGeom prst="rect">
            <a:avLst/>
          </a:prstGeom>
          <a:solidFill>
            <a:srgbClr val="49D4E8"/>
          </a:solidFill>
          <a:ln w="12700">
            <a:solidFill>
              <a:srgbClr val="49D4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22008" y="230428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A45"/>
                </a:solidFill>
              </a:rPr>
              <a:t>Reweighting improved recall and slightly reduced the adverse high-risk ratio.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720840" y="3291840"/>
            <a:ext cx="73152" cy="868680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22008" y="3310128"/>
            <a:ext cx="4023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A45"/>
                </a:solidFill>
              </a:rPr>
              <a:t>It did not solve equalized odds, proving that one mitigation method does not satisfy every fairness definition.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720840" y="4617720"/>
            <a:ext cx="42062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useful finding, not a failure: the report explains why fairness must be tied to the harm being reduced.</a:t>
            </a:r>
            <a:endParaRPr lang="en-US" sz="1350" dirty="0"/>
          </a:p>
        </p:txBody>
      </p:sp>
      <p:pic>
        <p:nvPicPr>
          <p:cNvPr id="46" name="Picture 45" descr="code_reweight.png">
            <a:extLst>
              <a:ext uri="{FF2B5EF4-FFF2-40B4-BE49-F238E27FC236}">
                <a16:creationId xmlns:a16="http://schemas.microsoft.com/office/drawing/2014/main" id="{B0165755-DE5A-D0F9-51B6-D40FDE23E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172821"/>
            <a:ext cx="4526280" cy="889091"/>
          </a:xfrm>
          <a:prstGeom prst="rect">
            <a:avLst/>
          </a:prstGeom>
        </p:spPr>
      </p:pic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A7AB6FF8-D0F4-DD56-38BB-EBA2BB10E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623790"/>
              </p:ext>
            </p:extLst>
          </p:nvPr>
        </p:nvGraphicFramePr>
        <p:xfrm>
          <a:off x="763524" y="2286000"/>
          <a:ext cx="5152644" cy="2651200"/>
        </p:xfrm>
        <a:graphic>
          <a:graphicData uri="http://schemas.openxmlformats.org/drawingml/2006/table">
            <a:tbl>
              <a:tblPr/>
              <a:tblGrid>
                <a:gridCol w="1288161">
                  <a:extLst>
                    <a:ext uri="{9D8B030D-6E8A-4147-A177-3AD203B41FA5}">
                      <a16:colId xmlns:a16="http://schemas.microsoft.com/office/drawing/2014/main" val="2499829649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665833576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1105375001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4139959"/>
                    </a:ext>
                  </a:extLst>
                </a:gridCol>
              </a:tblGrid>
              <a:tr h="186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Metric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Baseline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Reweighted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Meaning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320305"/>
                  </a:ext>
                </a:extLst>
              </a:tr>
              <a:tr h="546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Accuracy</a:t>
                      </a:r>
                      <a:endParaRPr lang="en-US" sz="80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0.666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0.659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Accuracy dropped slightly, so the model became a tiny bit less correct overall.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657005"/>
                  </a:ext>
                </a:extLst>
              </a:tr>
              <a:tr h="426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Recall</a:t>
                      </a:r>
                      <a:endParaRPr lang="en-US" sz="80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0.562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0.648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Recall improved, meaning the model caught more actual recidivism cases.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687407"/>
                  </a:ext>
                </a:extLst>
              </a:tr>
              <a:tr h="907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High-risk ratio</a:t>
                      </a:r>
                      <a:endParaRPr lang="en-US" sz="80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1.959×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1.824×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The high-risk prediction imbalance improved slightly. African-American defendants were still labeled high risk more often, but the gap became smaller.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592244"/>
                  </a:ext>
                </a:extLst>
              </a:tr>
              <a:tr h="546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EOdds gap</a:t>
                      </a:r>
                      <a:endParaRPr lang="en-US" sz="80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0.290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0.292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Equalized odds did </a:t>
                      </a:r>
                      <a:r>
                        <a:rPr lang="en-US" sz="800" b="1" dirty="0"/>
                        <a:t>not</a:t>
                      </a:r>
                      <a:r>
                        <a:rPr lang="en-US" sz="800" dirty="0"/>
                        <a:t> improve. The error-rate imbalance stayed almost the same.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8780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5F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Mitigation 2: threshold adjustment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01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Algorithmic Bias Audit  •  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555480" y="6601968"/>
            <a:ext cx="214884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bias_project_assets/accuracy_fairness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3500"/>
            <a:ext cx="5872163" cy="39147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092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A45"/>
                </a:solidFill>
              </a:rPr>
              <a:t>Selected thresholds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388352" y="1920240"/>
            <a:ext cx="1828800" cy="365760"/>
          </a:xfrm>
          <a:prstGeom prst="rect">
            <a:avLst/>
          </a:prstGeom>
          <a:solidFill>
            <a:srgbClr val="172A45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24928" y="197510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Group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217152" y="1920240"/>
            <a:ext cx="1828800" cy="365760"/>
          </a:xfrm>
          <a:prstGeom prst="rect">
            <a:avLst/>
          </a:prstGeom>
          <a:solidFill>
            <a:srgbClr val="172A45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253728" y="197510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Threshold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388352" y="2286000"/>
            <a:ext cx="18288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24928" y="234086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A45"/>
                </a:solidFill>
              </a:rPr>
              <a:t>African-American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9217152" y="2286000"/>
            <a:ext cx="18288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253728" y="234086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A45"/>
                </a:solidFill>
              </a:rPr>
              <a:t>0.475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7388352" y="2651760"/>
            <a:ext cx="1828800" cy="365760"/>
          </a:xfrm>
          <a:prstGeom prst="rect">
            <a:avLst/>
          </a:prstGeom>
          <a:solidFill>
            <a:srgbClr val="F3F6FB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24928" y="27066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A45"/>
                </a:solidFill>
              </a:rPr>
              <a:t>Caucasian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9217152" y="2651760"/>
            <a:ext cx="1828800" cy="365760"/>
          </a:xfrm>
          <a:prstGeom prst="rect">
            <a:avLst/>
          </a:prstGeom>
          <a:solidFill>
            <a:srgbClr val="F3F6FB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253728" y="27066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A45"/>
                </a:solidFill>
              </a:rPr>
              <a:t>0.380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7388352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5F5C"/>
                </a:solidFill>
              </a:rPr>
              <a:t>Fairness improvement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88352" y="38221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0.290 → 0.040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7406640" y="4526280"/>
            <a:ext cx="3657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Equalized-odds gap falls sharply, while accuracy only moves from 0.666 to 0.655.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406640" y="5440680"/>
            <a:ext cx="73152" cy="640080"/>
          </a:xfrm>
          <a:prstGeom prst="rect">
            <a:avLst/>
          </a:prstGeom>
          <a:solidFill>
            <a:srgbClr val="7A4DD8"/>
          </a:solidFill>
          <a:ln w="12700">
            <a:solidFill>
              <a:srgbClr val="7A4D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607808" y="545896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A45"/>
                </a:solidFill>
              </a:rPr>
              <a:t>Best technical trade-off in this run — but it requires defending group-aware thresholds ethically.</a:t>
            </a:r>
            <a:endParaRPr lang="en-US" sz="1500" dirty="0"/>
          </a:p>
        </p:txBody>
      </p:sp>
      <p:pic>
        <p:nvPicPr>
          <p:cNvPr id="26" name="Picture 25" descr="code_thresholds.png">
            <a:extLst>
              <a:ext uri="{FF2B5EF4-FFF2-40B4-BE49-F238E27FC236}">
                <a16:creationId xmlns:a16="http://schemas.microsoft.com/office/drawing/2014/main" id="{243F3685-685E-07A8-4704-CE9B57D4C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11134"/>
            <a:ext cx="3730752" cy="695564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BAFB4BB-515C-96CA-4D52-917A9704CFF4}"/>
              </a:ext>
            </a:extLst>
          </p:cNvPr>
          <p:cNvSpPr/>
          <p:nvPr/>
        </p:nvSpPr>
        <p:spPr>
          <a:xfrm>
            <a:off x="9441180" y="384048"/>
            <a:ext cx="1554480" cy="256032"/>
          </a:xfrm>
          <a:prstGeom prst="roundRect">
            <a:avLst/>
          </a:prstGeom>
          <a:solidFill>
            <a:srgbClr val="0D1831"/>
          </a:solidFill>
          <a:ln>
            <a:solidFill>
              <a:srgbClr val="0D1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SELECTED THRESHOLDS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1F8255-8633-A207-34C9-5F84013337FC}"/>
              </a:ext>
            </a:extLst>
          </p:cNvPr>
          <p:cNvSpPr txBox="1"/>
          <p:nvPr/>
        </p:nvSpPr>
        <p:spPr>
          <a:xfrm>
            <a:off x="2542032" y="5248275"/>
            <a:ext cx="224332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dirty="0"/>
              <a:t>Each dot represents something like:</a:t>
            </a:r>
          </a:p>
          <a:p>
            <a:pPr rtl="0">
              <a:buNone/>
            </a:pPr>
            <a:r>
              <a:rPr lang="en-US" sz="800" dirty="0">
                <a:latin typeface="Courier New" panose="02070309020205020404" pitchFamily="49" charset="0"/>
              </a:rPr>
              <a:t>AA threshold = 0.45</a:t>
            </a:r>
            <a:br>
              <a:rPr lang="en-US" sz="800" dirty="0">
                <a:latin typeface="Courier New" panose="02070309020205020404" pitchFamily="49" charset="0"/>
              </a:rPr>
            </a:br>
            <a:r>
              <a:rPr lang="en-US" sz="800" dirty="0">
                <a:latin typeface="Courier New" panose="02070309020205020404" pitchFamily="49" charset="0"/>
              </a:rPr>
              <a:t>Caucasian threshold = 0.40</a:t>
            </a:r>
          </a:p>
          <a:p>
            <a:pPr>
              <a:buNone/>
            </a:pPr>
            <a:r>
              <a:rPr lang="en-US" sz="800" dirty="0"/>
              <a:t>or:</a:t>
            </a:r>
          </a:p>
          <a:p>
            <a:pPr rtl="0">
              <a:buNone/>
            </a:pPr>
            <a:r>
              <a:rPr lang="en-US" sz="800" dirty="0">
                <a:latin typeface="Courier New" panose="02070309020205020404" pitchFamily="49" charset="0"/>
              </a:rPr>
              <a:t>AA threshold = 0.55</a:t>
            </a:r>
            <a:br>
              <a:rPr lang="en-US" sz="800" dirty="0">
                <a:latin typeface="Courier New" panose="02070309020205020404" pitchFamily="49" charset="0"/>
              </a:rPr>
            </a:br>
            <a:r>
              <a:rPr lang="en-US" sz="800" dirty="0">
                <a:latin typeface="Courier New" panose="02070309020205020404" pitchFamily="49" charset="0"/>
              </a:rPr>
              <a:t>Caucasian threshold = 0.35</a:t>
            </a:r>
          </a:p>
          <a:p>
            <a:pPr>
              <a:buNone/>
            </a:pPr>
            <a:r>
              <a:rPr lang="en-US" sz="800" dirty="0"/>
              <a:t>For every pair, the code calculated:</a:t>
            </a:r>
          </a:p>
          <a:p>
            <a:pPr>
              <a:buFont typeface="+mj-lt"/>
              <a:buAutoNum type="arabicPeriod"/>
            </a:pPr>
            <a:r>
              <a:rPr lang="en-US" sz="800" dirty="0"/>
              <a:t>Accuracy </a:t>
            </a:r>
          </a:p>
          <a:p>
            <a:pPr>
              <a:buFont typeface="+mj-lt"/>
              <a:buAutoNum type="arabicPeriod"/>
            </a:pPr>
            <a:r>
              <a:rPr lang="en-US" sz="800" dirty="0"/>
              <a:t>TPR gap </a:t>
            </a:r>
          </a:p>
          <a:p>
            <a:pPr>
              <a:buFont typeface="+mj-lt"/>
              <a:buAutoNum type="arabicPeriod"/>
            </a:pPr>
            <a:r>
              <a:rPr lang="en-US" sz="800" dirty="0"/>
              <a:t>FPR gap </a:t>
            </a:r>
          </a:p>
          <a:p>
            <a:pPr>
              <a:buFont typeface="+mj-lt"/>
              <a:buAutoNum type="arabicPeriod"/>
            </a:pPr>
            <a:r>
              <a:rPr lang="en-US" sz="800" dirty="0"/>
              <a:t>Equalized-odds gap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5F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Calibration and equalized odds conflict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01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Algorithmic Bias Audit  •  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555480" y="6601968"/>
            <a:ext cx="214884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bias_project_assets/calibration_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40180"/>
            <a:ext cx="521208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0.133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31520" y="1901952"/>
            <a:ext cx="1097280" cy="0"/>
          </a:xfrm>
          <a:prstGeom prst="line">
            <a:avLst/>
          </a:prstGeom>
          <a:noFill/>
          <a:ln w="50800">
            <a:solidFill>
              <a:srgbClr val="F25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0025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Base-rate difference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880360" y="1572768"/>
            <a:ext cx="27432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African-American observed recidivism rate: 0.524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Caucasian observed recidivism rate: 0.391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77240" y="2606040"/>
            <a:ext cx="480060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2971800"/>
            <a:ext cx="484632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base rates differ, a calibrated model can preserve meaningful probabilities within each group, but equalized odds demands matched TPR and FPR across groups.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77240" y="4617720"/>
            <a:ext cx="73152" cy="777240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78408" y="4636008"/>
            <a:ext cx="4663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A45"/>
                </a:solidFill>
              </a:rPr>
              <a:t>Unless the model is nearly perfect or base rates are equal, both goals cannot be fully satisfied at the same time.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77240" y="5715000"/>
            <a:ext cx="4846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is why the final recommendation is not “maximize accuracy,” but choose and justify the fairness tradeoff.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Navigating Bias in AI with Open-Source Toolkits - AltaML">
            <a:extLst>
              <a:ext uri="{FF2B5EF4-FFF2-40B4-BE49-F238E27FC236}">
                <a16:creationId xmlns:a16="http://schemas.microsoft.com/office/drawing/2014/main" id="{E0104E8E-E640-DA10-0400-AF12BC54E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9864"/>
            <a:ext cx="12191999" cy="68281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68680" y="960120"/>
            <a:ext cx="2240280" cy="329184"/>
          </a:xfrm>
          <a:prstGeom prst="roundRect">
            <a:avLst>
              <a:gd name="adj" fmla="val 22222"/>
            </a:avLst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41832" y="1042416"/>
            <a:ext cx="2093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FINAL RECOMMENDATION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868680" y="150876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use as an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decision-maker.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96112" y="2971800"/>
            <a:ext cx="57607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only as decision support with human review, transparent documentation, subgroup monitoring, and recurring re-audits.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96112" y="4096512"/>
            <a:ext cx="73152" cy="685800"/>
          </a:xfrm>
          <a:prstGeom prst="rect">
            <a:avLst/>
          </a:prstGeom>
          <a:solidFill>
            <a:srgbClr val="49D4E8"/>
          </a:solidFill>
          <a:ln w="12700">
            <a:solidFill>
              <a:srgbClr val="49D4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97280" y="4114800"/>
            <a:ext cx="5257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Technically strongest mitigation: group thresholds reduce equalized-odds gap to 0.040.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896112" y="5047488"/>
            <a:ext cx="73152" cy="685800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5065776"/>
            <a:ext cx="5257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Ethical caveat: group-aware thresholds require stakeholder approval and explicit justification.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7863840" y="54406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Core lesson: fairness is a defended operating choice, not a single accuracy number.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63840" y="6126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E1F7"/>
                </a:solidFill>
              </a:rPr>
              <a:t>Data: ProPublica COMPAS two-year recidivism dataset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2031</TotalTime>
  <Words>1191</Words>
  <Application>Microsoft Macintosh PowerPoint</Application>
  <PresentationFormat>Widescreen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SFBU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Bias Audit and Mitigation</dc:title>
  <dc:subject>Project 7 Algorithmic Bias Audit and Mitigation</dc:subject>
  <dc:creator>Samarah Hiba</dc:creator>
  <cp:lastModifiedBy>Samarah Hiba</cp:lastModifiedBy>
  <cp:revision>41</cp:revision>
  <dcterms:created xsi:type="dcterms:W3CDTF">2026-07-01T04:43:11Z</dcterms:created>
  <dcterms:modified xsi:type="dcterms:W3CDTF">2026-07-08T06:52:27Z</dcterms:modified>
</cp:coreProperties>
</file>